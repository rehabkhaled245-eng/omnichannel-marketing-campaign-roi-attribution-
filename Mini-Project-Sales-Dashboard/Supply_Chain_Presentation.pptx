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media/image9.jpg" ContentType="image/jpeg"/>
  <Override PartName="/ppt/notesSlides/notesSlide20.xml" ContentType="application/vnd.openxmlformats-officedocument.presentationml.notesSlide+xml"/>
  <Override PartName="/ppt/media/image10.jpg" ContentType="image/jpeg"/>
  <Override PartName="/ppt/notesSlides/notesSlide21.xml" ContentType="application/vnd.openxmlformats-officedocument.presentationml.notesSlide+xml"/>
  <Override PartName="/ppt/media/image11.jpg" ContentType="image/jpeg"/>
  <Override PartName="/ppt/notesSlides/notesSlide22.xml" ContentType="application/vnd.openxmlformats-officedocument.presentationml.notesSlide+xml"/>
  <Override PartName="/ppt/media/image12.jpg" ContentType="image/jpeg"/>
  <Override PartName="/ppt/notesSlides/notesSlide23.xml" ContentType="application/vnd.openxmlformats-officedocument.presentationml.notesSlide+xml"/>
  <Override PartName="/ppt/media/image13.jpg" ContentType="image/jpeg"/>
  <Override PartName="/ppt/notesSlides/notesSlide24.xml" ContentType="application/vnd.openxmlformats-officedocument.presentationml.notesSlide+xml"/>
  <Override PartName="/ppt/media/image14.jpg" ContentType="image/jpeg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رحاب خالد السيد محمد حسن" userId="d5704049033cbfcb" providerId="LiveId" clId="{A473B21B-3B5E-425A-AB40-3E8277C14C03}"/>
    <pc:docChg chg="modSld sldOrd">
      <pc:chgData name="رحاب خالد السيد محمد حسن" userId="d5704049033cbfcb" providerId="LiveId" clId="{A473B21B-3B5E-425A-AB40-3E8277C14C03}" dt="2026-10-24T17:37:34.327" v="22" actId="14100"/>
      <pc:docMkLst>
        <pc:docMk/>
      </pc:docMkLst>
      <pc:sldChg chg="modSp mod">
        <pc:chgData name="رحاب خالد السيد محمد حسن" userId="d5704049033cbfcb" providerId="LiveId" clId="{A473B21B-3B5E-425A-AB40-3E8277C14C03}" dt="2026-10-24T17:35:44.209" v="13" actId="14100"/>
        <pc:sldMkLst>
          <pc:docMk/>
          <pc:sldMk cId="0" sldId="263"/>
        </pc:sldMkLst>
        <pc:picChg chg="mod">
          <ac:chgData name="رحاب خالد السيد محمد حسن" userId="d5704049033cbfcb" providerId="LiveId" clId="{A473B21B-3B5E-425A-AB40-3E8277C14C03}" dt="2026-10-24T17:35:06.337" v="9" actId="14100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رحاب خالد السيد محمد حسن" userId="d5704049033cbfcb" providerId="LiveId" clId="{A473B21B-3B5E-425A-AB40-3E8277C14C03}" dt="2026-10-24T17:35:44.209" v="13" actId="14100"/>
          <ac:picMkLst>
            <pc:docMk/>
            <pc:sldMk cId="0" sldId="263"/>
            <ac:picMk id="11" creationId="{00000000-0000-0000-0000-000000000000}"/>
          </ac:picMkLst>
        </pc:picChg>
      </pc:sldChg>
      <pc:sldChg chg="modSp mod">
        <pc:chgData name="رحاب خالد السيد محمد حسن" userId="d5704049033cbfcb" providerId="LiveId" clId="{A473B21B-3B5E-425A-AB40-3E8277C14C03}" dt="2026-10-24T17:36:45.617" v="19" actId="14100"/>
        <pc:sldMkLst>
          <pc:docMk/>
          <pc:sldMk cId="0" sldId="264"/>
        </pc:sldMkLst>
        <pc:picChg chg="mod">
          <ac:chgData name="رحاب خالد السيد محمد حسن" userId="d5704049033cbfcb" providerId="LiveId" clId="{A473B21B-3B5E-425A-AB40-3E8277C14C03}" dt="2026-10-24T17:36:23.131" v="16" actId="14100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رحاب خالد السيد محمد حسن" userId="d5704049033cbfcb" providerId="LiveId" clId="{A473B21B-3B5E-425A-AB40-3E8277C14C03}" dt="2026-10-24T17:36:45.617" v="19" actId="14100"/>
          <ac:picMkLst>
            <pc:docMk/>
            <pc:sldMk cId="0" sldId="264"/>
            <ac:picMk id="11" creationId="{00000000-0000-0000-0000-000000000000}"/>
          </ac:picMkLst>
        </pc:picChg>
      </pc:sldChg>
      <pc:sldChg chg="modSp mod">
        <pc:chgData name="رحاب خالد السيد محمد حسن" userId="d5704049033cbfcb" providerId="LiveId" clId="{A473B21B-3B5E-425A-AB40-3E8277C14C03}" dt="2026-10-24T17:37:34.327" v="22" actId="14100"/>
        <pc:sldMkLst>
          <pc:docMk/>
          <pc:sldMk cId="0" sldId="265"/>
        </pc:sldMkLst>
        <pc:picChg chg="mod">
          <ac:chgData name="رحاب خالد السيد محمد حسن" userId="d5704049033cbfcb" providerId="LiveId" clId="{A473B21B-3B5E-425A-AB40-3E8277C14C03}" dt="2026-10-24T17:37:34.327" v="22" actId="14100"/>
          <ac:picMkLst>
            <pc:docMk/>
            <pc:sldMk cId="0" sldId="265"/>
            <ac:picMk id="6" creationId="{00000000-0000-0000-0000-000000000000}"/>
          </ac:picMkLst>
        </pc:picChg>
      </pc:sldChg>
      <pc:sldChg chg="ord">
        <pc:chgData name="رحاب خالد السيد محمد حسن" userId="d5704049033cbfcb" providerId="LiveId" clId="{A473B21B-3B5E-425A-AB40-3E8277C14C03}" dt="2026-10-24T09:56:59.069" v="3"/>
        <pc:sldMkLst>
          <pc:docMk/>
          <pc:sldMk cId="0" sldId="2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Trend</c:v>
                </c:pt>
              </c:strCache>
            </c:strRef>
          </c:tx>
          <c:spPr>
            <a:ln w="38100" cap="flat">
              <a:solidFill>
                <a:srgbClr val="FFFFFF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FFFF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</c:v>
                </c:pt>
                <c:pt idx="1">
                  <c:v>3.2</c:v>
                </c:pt>
                <c:pt idx="2">
                  <c:v>2.8</c:v>
                </c:pt>
                <c:pt idx="3">
                  <c:v>4.2</c:v>
                </c:pt>
                <c:pt idx="4">
                  <c:v>3.9</c:v>
                </c:pt>
                <c:pt idx="5">
                  <c:v>5</c:v>
                </c:pt>
                <c:pt idx="6">
                  <c:v>6.4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C62-4707-AD06-3027C0C33F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997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A9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/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372600" y="164592"/>
            <a:ext cx="2514600" cy="640080"/>
          </a:xfrm>
          <a:prstGeom prst="rect">
            <a:avLst/>
          </a:prstGeom>
          <a:solidFill>
            <a:srgbClr val="0A2A66"/>
          </a:solidFill>
          <a:ln/>
        </p:spPr>
      </p:sp>
      <p:pic>
        <p:nvPicPr>
          <p:cNvPr id="4" name="Image 1" descr="/home/claude/a/log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0" y="201168"/>
            <a:ext cx="2331720" cy="56692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2648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 Data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A9D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/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648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 Data Analytics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 DATA ANALYSIS PROJECT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137160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Supply Chain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214884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0" b="1" dirty="0">
                <a:solidFill>
                  <a:srgbClr val="2F7B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Analytics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310896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0E3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Turning supply chain data into insights that improve efficiency, cut costs, and support better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" y="3840480"/>
            <a:ext cx="4754880" cy="411480"/>
          </a:xfrm>
          <a:prstGeom prst="roundRect">
            <a:avLst>
              <a:gd name="adj" fmla="val 48889"/>
            </a:avLst>
          </a:prstGeom>
          <a:solidFill>
            <a:srgbClr val="0A2056"/>
          </a:solidFill>
          <a:ln w="12700">
            <a:solidFill>
              <a:srgbClr val="0A205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Digital Egypt Pioneers Initiative – DEPI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4434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Instructor: </a:t>
            </a:r>
            <a:r>
              <a:rPr lang="en-US" sz="12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Eman Ghanem</a:t>
            </a:r>
            <a:r>
              <a:rPr lang="en-US" sz="1200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·   Under supervision of </a:t>
            </a:r>
            <a:r>
              <a:rPr lang="en-US" sz="12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Dr. Mahmoud Raslan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code: ITC_ONL5_DAT3_G3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Sara Elsayed Shoaib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Eman Negem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910328" y="51663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Ahmed Hosniy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12648" y="5513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Rehab Khaled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761488" y="5513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Hoda Negm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910328" y="55138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 Ahmed Sabih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589520" y="1828800"/>
            <a:ext cx="3995928" cy="3566160"/>
          </a:xfrm>
          <a:prstGeom prst="roundRect">
            <a:avLst>
              <a:gd name="adj" fmla="val 4103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4389120"/>
            <a:ext cx="274320" cy="640080"/>
          </a:xfrm>
          <a:prstGeom prst="roundRect">
            <a:avLst>
              <a:gd name="adj" fmla="val 13333"/>
            </a:avLst>
          </a:prstGeom>
          <a:solidFill>
            <a:srgbClr val="8FD0FF">
              <a:alpha val="85000"/>
            </a:srgbClr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0" y="4069080"/>
            <a:ext cx="274320" cy="960120"/>
          </a:xfrm>
          <a:prstGeom prst="roundRect">
            <a:avLst>
              <a:gd name="adj" fmla="val 13333"/>
            </a:avLst>
          </a:prstGeom>
          <a:solidFill>
            <a:srgbClr val="8FD0FF">
              <a:alpha val="85000"/>
            </a:srgbClr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4206240"/>
            <a:ext cx="274320" cy="822960"/>
          </a:xfrm>
          <a:prstGeom prst="roundRect">
            <a:avLst>
              <a:gd name="adj" fmla="val 13333"/>
            </a:avLst>
          </a:prstGeom>
          <a:solidFill>
            <a:srgbClr val="8FD0FF">
              <a:alpha val="85000"/>
            </a:srgbClr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18320" y="3657600"/>
            <a:ext cx="274320" cy="1371600"/>
          </a:xfrm>
          <a:prstGeom prst="roundRect">
            <a:avLst>
              <a:gd name="adj" fmla="val 13333"/>
            </a:avLst>
          </a:prstGeom>
          <a:solidFill>
            <a:srgbClr val="8FD0FF">
              <a:alpha val="85000"/>
            </a:srgbClr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84080" y="3840480"/>
            <a:ext cx="274320" cy="1188720"/>
          </a:xfrm>
          <a:prstGeom prst="roundRect">
            <a:avLst>
              <a:gd name="adj" fmla="val 13333"/>
            </a:avLst>
          </a:prstGeom>
          <a:solidFill>
            <a:srgbClr val="8FD0FF">
              <a:alpha val="85000"/>
            </a:srgbClr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291840"/>
            <a:ext cx="274320" cy="1737360"/>
          </a:xfrm>
          <a:prstGeom prst="roundRect">
            <a:avLst>
              <a:gd name="adj" fmla="val 13333"/>
            </a:avLst>
          </a:prstGeom>
          <a:solidFill>
            <a:srgbClr val="8FD0FF">
              <a:alpha val="85000"/>
            </a:srgbClr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0" y="2834640"/>
            <a:ext cx="274320" cy="2194560"/>
          </a:xfrm>
          <a:prstGeom prst="roundRect">
            <a:avLst>
              <a:gd name="adj" fmla="val 13333"/>
            </a:avLst>
          </a:prstGeom>
          <a:solidFill>
            <a:srgbClr val="8FD0FF">
              <a:alpha val="85000"/>
            </a:srgbClr>
          </a:solidFill>
          <a:ln w="12700">
            <a:solidFill>
              <a:srgbClr val="8FD0FF"/>
            </a:solidFill>
            <a:prstDash val="solid"/>
          </a:ln>
        </p:spPr>
      </p:sp>
      <p:graphicFrame>
        <p:nvGraphicFramePr>
          <p:cNvPr id="24" name="Chart 0"/>
          <p:cNvGraphicFramePr/>
          <p:nvPr/>
        </p:nvGraphicFramePr>
        <p:xfrm>
          <a:off x="7772400" y="2011680"/>
          <a:ext cx="35661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01 · THE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the Dataset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5394960" cy="4069080"/>
          </a:xfrm>
          <a:prstGeom prst="roundRect">
            <a:avLst>
              <a:gd name="adj" fmla="val 3596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IT ABOUT?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0312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DataCo Supply Chain: one row for every order item sold by a global company, covering orders from 2015 to early 2018.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1508760" cy="868680"/>
          </a:xfrm>
          <a:prstGeom prst="roundRect">
            <a:avLst>
              <a:gd name="adj" fmla="val 1684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030322"/>
            <a:ext cx="15087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180,519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6466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514600" y="2926080"/>
            <a:ext cx="1508760" cy="868680"/>
          </a:xfrm>
          <a:prstGeom prst="roundRect">
            <a:avLst>
              <a:gd name="adj" fmla="val 1684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14600" y="3030322"/>
            <a:ext cx="15087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346466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160520" y="2926080"/>
            <a:ext cx="1508760" cy="868680"/>
          </a:xfrm>
          <a:prstGeom prst="roundRect">
            <a:avLst>
              <a:gd name="adj" fmla="val 1684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160520" y="3030322"/>
            <a:ext cx="150876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346466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023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row describes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4343400"/>
            <a:ext cx="1459382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343400"/>
            <a:ext cx="14593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&amp; segment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19502" y="4343400"/>
            <a:ext cx="1459382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419502" y="4343400"/>
            <a:ext cx="14593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&amp; category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70325" y="4343400"/>
            <a:ext cx="1525219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970325" y="4343400"/>
            <a:ext cx="15252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date &amp; status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68680" y="4709160"/>
            <a:ext cx="1591056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709160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mode &amp; days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51176" y="4709160"/>
            <a:ext cx="1788566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551176" y="4709160"/>
            <a:ext cx="17885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discount, profit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68680" y="5074920"/>
            <a:ext cx="1459382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074920"/>
            <a:ext cx="14593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delivery risk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19502" y="5074920"/>
            <a:ext cx="1261872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19502" y="5074920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&amp; region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17920" y="1600200"/>
            <a:ext cx="5367528" cy="4069080"/>
          </a:xfrm>
          <a:prstGeom prst="roundRect">
            <a:avLst>
              <a:gd name="adj" fmla="val 3596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73952" y="17830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PROBLEMS WE FOUND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73952" y="212140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73952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2103120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2340864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Zipcode 86% empty, Product Description 100% empty, a few blanks in customer name and zipcode.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73952" y="2816352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858000" y="2798064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Unneeded columns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858000" y="3035808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Passwords, emails, street, image and duplicate columns add noise.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73952" y="351129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473952" y="3511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3493008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Broken text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6858000" y="3730752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 characters showed as "MÃ©xico" and country names like "EE. UU." did not match the map.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73952" y="4206240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858000" y="4187952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Mixed types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6858000" y="4425696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Prices, ids and date-time values were stored inconsistently.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73952" y="4901184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473952" y="4901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858000" y="4882896"/>
            <a:ext cx="4507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Outliers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6858000" y="5120640"/>
            <a:ext cx="4507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Profit, discount, price and sales have extreme values to check.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Solving these problems in Python and SQL gives a clean, trustworthy base for the Power BI dashboards.</a:t>
            </a:r>
            <a:endParaRPr lang="en-US" sz="12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01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309360" cy="1920240"/>
          </a:xfrm>
          <a:prstGeom prst="roundRect">
            <a:avLst>
              <a:gd name="adj" fmla="val 5714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629107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099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636776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notebook.ipynb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57400"/>
            <a:ext cx="59436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</a:t>
            </a:r>
            <a:r>
              <a:rPr lang="en-US" sz="11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</a:t>
            </a:r>
            <a:r>
              <a:rPr lang="en-US" sz="11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'/content/CoSupply_Chain_Dataset.csv'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encoding=</a:t>
            </a:r>
            <a:r>
              <a:rPr lang="en-US" sz="11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'latin1'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</a:t>
            </a:r>
            <a:r>
              <a:rPr lang="en-US" sz="11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0" y="1600200"/>
            <a:ext cx="445312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175564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744968" y="173736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read_csv()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744968" y="197510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the supply chain file into a DataFrame called df.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60920" y="232257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60920" y="2322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744968" y="230428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encoding='latin1'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744968" y="254203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Reads special characters without errors.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287121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60920" y="2871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744968" y="285292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744968" y="309067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the first 5 rows to preview the data.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" y="3703320"/>
            <a:ext cx="10972800" cy="2103120"/>
          </a:xfrm>
          <a:prstGeom prst="roundRect">
            <a:avLst>
              <a:gd name="adj" fmla="val 6957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381304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381304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rows × 53 columns</a:t>
            </a:r>
            <a:endParaRPr lang="en-US" sz="9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069080"/>
          <a:ext cx="10607040" cy="1417320"/>
        </p:xfrm>
        <a:graphic>
          <a:graphicData uri="http://schemas.openxmlformats.org/drawingml/2006/table">
            <a:tbl>
              <a:tblPr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 for shipping (real)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 for shipment (scheduled)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Benefit per order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Delivery Status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Late_delivery_risk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 Name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Shipping Mode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DEBIT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91.25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Advance shipping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Sporting Goods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Class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TRANSFER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A8E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-249.09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Late delivery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Sporting Goods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Class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4A8E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-247.78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Shipping on time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Sporting Goods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Class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DEBIT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22.86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Advance shipping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Sporting Goods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Class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8FD0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134.21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Advance shipping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Sporting Goods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Class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7F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8229600" y="55778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Showing 8 of 53 columns</a:t>
            </a:r>
            <a:endParaRPr lang="en-US" sz="9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01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Understanding the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3291840" cy="1234440"/>
          </a:xfrm>
          <a:prstGeom prst="roundRect">
            <a:avLst>
              <a:gd name="adj" fmla="val 8889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327355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099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6367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notebook.ipynb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57400"/>
            <a:ext cx="292608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6"/>
              </a:lnSpc>
              <a:buNone/>
            </a:pPr>
            <a:r>
              <a:rPr lang="en-US" sz="12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</a:t>
            </a:r>
            <a:r>
              <a:rPr lang="en-US" sz="12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</a:t>
            </a:r>
            <a:r>
              <a:rPr lang="en-US" sz="12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069080" y="1600200"/>
            <a:ext cx="1801368" cy="1234440"/>
          </a:xfrm>
          <a:prstGeom prst="roundRect">
            <a:avLst>
              <a:gd name="adj" fmla="val 1185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069080" y="1748333"/>
            <a:ext cx="180136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180,519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069080" y="2365553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ROWS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61888" y="1600200"/>
            <a:ext cx="1801368" cy="1234440"/>
          </a:xfrm>
          <a:prstGeom prst="roundRect">
            <a:avLst>
              <a:gd name="adj" fmla="val 1185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61888" y="1748333"/>
            <a:ext cx="180136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961888" y="2365553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854696" y="1600200"/>
            <a:ext cx="1801368" cy="1234440"/>
          </a:xfrm>
          <a:prstGeom prst="roundRect">
            <a:avLst>
              <a:gd name="adj" fmla="val 1185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54696" y="1748333"/>
            <a:ext cx="180136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73+ MB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854696" y="2365553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MEMORY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747504" y="1600200"/>
            <a:ext cx="1801368" cy="1234440"/>
          </a:xfrm>
          <a:prstGeom prst="roundRect">
            <a:avLst>
              <a:gd name="adj" fmla="val 1185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47504" y="1748333"/>
            <a:ext cx="180136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747504" y="2365553"/>
            <a:ext cx="1801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COLS WITH NULLS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2648" y="3017520"/>
            <a:ext cx="4206240" cy="2651760"/>
          </a:xfrm>
          <a:prstGeom prst="roundRect">
            <a:avLst>
              <a:gd name="adj" fmla="val 5517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31272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TYPES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108960" y="3127248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columns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41248" y="3520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object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37673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194560" y="3611880"/>
            <a:ext cx="201168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94560" y="3611880"/>
            <a:ext cx="2011680" cy="128016"/>
          </a:xfrm>
          <a:prstGeom prst="roundRect">
            <a:avLst>
              <a:gd name="adj" fmla="val 50000"/>
            </a:avLst>
          </a:prstGeom>
          <a:solidFill>
            <a:srgbClr val="F4A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6240" y="3520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21538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float64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" y="4462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Decimal numbers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194560" y="4306824"/>
            <a:ext cx="201168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94560" y="4306824"/>
            <a:ext cx="1257300" cy="128016"/>
          </a:xfrm>
          <a:prstGeom prst="roundRect">
            <a:avLst>
              <a:gd name="adj" fmla="val 50000"/>
            </a:avLst>
          </a:prstGeom>
          <a:solidFill>
            <a:srgbClr val="8FD0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206240" y="421538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4910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int64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41248" y="5157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 numbers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194560" y="5001768"/>
            <a:ext cx="2011680" cy="128016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94560" y="5001768"/>
            <a:ext cx="1173480" cy="128016"/>
          </a:xfrm>
          <a:prstGeom prst="roundRect">
            <a:avLst>
              <a:gd name="adj" fmla="val 50000"/>
            </a:avLst>
          </a:prstGeom>
          <a:solidFill>
            <a:srgbClr val="8C9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06240" y="49103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983480" y="3017520"/>
            <a:ext cx="6601968" cy="2651760"/>
          </a:xfrm>
          <a:prstGeom prst="roundRect">
            <a:avLst>
              <a:gd name="adj" fmla="val 5517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212080" y="3127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 WITH MISSING VALUES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9144000" y="31272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 of 180,519 rows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5212080" y="35204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685800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NON-NULL</a:t>
            </a:r>
            <a:endParaRPr lang="en-US" sz="800" dirty="0"/>
          </a:p>
        </p:txBody>
      </p:sp>
      <p:sp>
        <p:nvSpPr>
          <p:cNvPr id="47" name="Text 45"/>
          <p:cNvSpPr txBox="1"/>
          <p:nvPr/>
        </p:nvSpPr>
        <p:spPr>
          <a:xfrm>
            <a:off x="7863840" y="35204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b="1" kern="0" spc="1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</a:t>
            </a:r>
            <a:endParaRPr lang="en-US" sz="800" dirty="0"/>
          </a:p>
        </p:txBody>
      </p:sp>
      <p:sp>
        <p:nvSpPr>
          <p:cNvPr id="48" name="Text 46"/>
          <p:cNvSpPr txBox="1"/>
          <p:nvPr/>
        </p:nvSpPr>
        <p:spPr>
          <a:xfrm>
            <a:off x="8961120" y="35204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 MISSING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521208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Zipcode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8580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24,840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786384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155,679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8961120" y="3922776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61120" y="3922776"/>
            <a:ext cx="1497604" cy="109728"/>
          </a:xfrm>
          <a:prstGeom prst="roundRect">
            <a:avLst>
              <a:gd name="adj" fmla="val 50000"/>
            </a:avLst>
          </a:prstGeom>
          <a:solidFill>
            <a:srgbClr val="F4A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0744200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86.2%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5212080" y="42793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Description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858000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7863840" y="42793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180,519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8961120" y="4361688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961120" y="4361688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F4A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744200" y="42793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5212080" y="47183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Lname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858000" y="4718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180,511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7863840" y="47183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8961120" y="4800600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961120" y="4800600"/>
            <a:ext cx="91440" cy="109728"/>
          </a:xfrm>
          <a:prstGeom prst="roundRect">
            <a:avLst>
              <a:gd name="adj" fmla="val 60000"/>
            </a:avLst>
          </a:prstGeom>
          <a:solidFill>
            <a:srgbClr val="F4A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0744200" y="471830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0.01%</a:t>
            </a:r>
            <a:endParaRPr lang="en-US" sz="900" dirty="0"/>
          </a:p>
        </p:txBody>
      </p:sp>
      <p:sp>
        <p:nvSpPr>
          <p:cNvPr id="67" name="Text 65"/>
          <p:cNvSpPr txBox="1"/>
          <p:nvPr/>
        </p:nvSpPr>
        <p:spPr>
          <a:xfrm>
            <a:off x="5212080" y="5157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Zipcode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858000" y="5157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180,516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863840" y="51572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8961120" y="5239512"/>
            <a:ext cx="173736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61120" y="5239512"/>
            <a:ext cx="91440" cy="109728"/>
          </a:xfrm>
          <a:prstGeom prst="roundRect">
            <a:avLst>
              <a:gd name="adj" fmla="val 60000"/>
            </a:avLst>
          </a:prstGeom>
          <a:solidFill>
            <a:srgbClr val="F4A8E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744200" y="515721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0.01%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4 of 53 columns have missing values: two are almost empty, and two are nearly complete.</a:t>
            </a:r>
            <a:endParaRPr lang="en-US" sz="1200" dirty="0"/>
          </a:p>
        </p:txBody>
      </p:sp>
      <p:sp>
        <p:nvSpPr>
          <p:cNvPr id="7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01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Dropping Unneeded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546811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099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636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notebook.ipynb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57400"/>
            <a:ext cx="5120640" cy="274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columns=[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'Customer Email'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'Customer Password'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'Customer Street'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'Latitude'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'Longitude'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 Zipcode'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 Customer Id'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'Benefit per order'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'Sales per customer'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 Item Product Price'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'Order Item Cardprod Id'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 Description'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 Image'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 Status'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 Category Id'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 inplace=</a:t>
            </a:r>
            <a:r>
              <a:rPr lang="en-US" sz="10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errors=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'ignore'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343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inplace=True</a:t>
            </a:r>
            <a:r>
              <a:rPr lang="en-US" sz="9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changes df directly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errors='ignore'</a:t>
            </a:r>
            <a:r>
              <a:rPr lang="en-US" sz="9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no error if a column is missing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276088" cy="868680"/>
          </a:xfrm>
          <a:prstGeom prst="roundRect">
            <a:avLst>
              <a:gd name="adj" fmla="val 1684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Personal &amp; sensitive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1064240" y="1691640"/>
            <a:ext cx="292608" cy="29260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64240" y="1691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2029968"/>
            <a:ext cx="1196035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029968"/>
            <a:ext cx="119603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Email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9715" y="2029968"/>
            <a:ext cx="1393546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9715" y="2029968"/>
            <a:ext cx="139354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Password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264701" y="2029968"/>
            <a:ext cx="1261872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64701" y="2029968"/>
            <a:ext cx="12618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Street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2542032"/>
            <a:ext cx="5276088" cy="1188720"/>
          </a:xfrm>
          <a:prstGeom prst="roundRect">
            <a:avLst>
              <a:gd name="adj" fmla="val 12308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26334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Duplicate or overlapping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1064240" y="2633472"/>
            <a:ext cx="292608" cy="29260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064240" y="2633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92240" y="2971800"/>
            <a:ext cx="1393546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2971800"/>
            <a:ext cx="139354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Customer Id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977226" y="2971800"/>
            <a:ext cx="1722730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77226" y="2971800"/>
            <a:ext cx="17227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Item Cardprod Id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9791395" y="2971800"/>
            <a:ext cx="1525219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91395" y="2971800"/>
            <a:ext cx="15252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Category Id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92240" y="3337560"/>
            <a:ext cx="1854403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92240" y="3337560"/>
            <a:ext cx="1854403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Item Product Price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438083" y="3337560"/>
            <a:ext cx="1393546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438083" y="3337560"/>
            <a:ext cx="139354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 per order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923069" y="3337560"/>
            <a:ext cx="1459382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923069" y="3337560"/>
            <a:ext cx="145938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per customer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309360" y="3803904"/>
            <a:ext cx="5276088" cy="1188720"/>
          </a:xfrm>
          <a:prstGeom prst="roundRect">
            <a:avLst>
              <a:gd name="adj" fmla="val 12308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92240" y="3895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 Empty or not needed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11064240" y="3895344"/>
            <a:ext cx="292608" cy="292608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064240" y="38953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92240" y="4233672"/>
            <a:ext cx="1525219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92240" y="4233672"/>
            <a:ext cx="15252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Description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08899" y="4233672"/>
            <a:ext cx="1130198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108899" y="4233672"/>
            <a:ext cx="113019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Image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330538" y="4233672"/>
            <a:ext cx="1196035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30538" y="4233672"/>
            <a:ext cx="1196035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Status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492240" y="4599432"/>
            <a:ext cx="1130198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92240" y="4599432"/>
            <a:ext cx="113019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Zipcode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713878" y="4599432"/>
            <a:ext cx="801014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13878" y="4599432"/>
            <a:ext cx="8010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Latitude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606333" y="4599432"/>
            <a:ext cx="866851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606333" y="4599432"/>
            <a:ext cx="866851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Longitude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2648" y="5102352"/>
            <a:ext cx="10972800" cy="566928"/>
          </a:xfrm>
          <a:prstGeom prst="roundRect">
            <a:avLst>
              <a:gd name="adj" fmla="val 25806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12648" y="510235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</a:t>
            </a:r>
            <a:r>
              <a:rPr lang="en-US" sz="10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 BEFORE</a:t>
            </a:r>
            <a:r>
              <a:rPr lang="en-US" sz="14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➜      </a:t>
            </a:r>
            <a:r>
              <a:rPr lang="en-US" sz="22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−15 </a:t>
            </a:r>
            <a:r>
              <a:rPr lang="en-US" sz="10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 REMOVED</a:t>
            </a:r>
            <a:r>
              <a:rPr lang="en-US" sz="14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➜      </a:t>
            </a:r>
            <a:r>
              <a:rPr lang="en-US" sz="220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 </a:t>
            </a:r>
            <a:r>
              <a:rPr lang="en-US" sz="10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 KEPT</a:t>
            </a:r>
            <a:endParaRPr lang="en-US" sz="2200" dirty="0"/>
          </a:p>
        </p:txBody>
      </p:sp>
      <p:sp>
        <p:nvSpPr>
          <p:cNvPr id="5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01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Handling Missing Values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400800" cy="1920240"/>
          </a:xfrm>
          <a:prstGeom prst="roundRect">
            <a:avLst>
              <a:gd name="adj" fmla="val 5714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638251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099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6367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notebook.ipynb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57400"/>
            <a:ext cx="60350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'Customer Lname'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'Customer Lname'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'Uk'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'Customer Zipcode'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= df[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'Customer Zipcode'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78040" y="1600200"/>
            <a:ext cx="2194560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60920" y="17190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Lname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595360" y="17373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text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20116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</a:t>
            </a: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</a:t>
            </a:r>
            <a:r>
              <a:rPr lang="en-US" sz="280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7360920" y="2606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VALUES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fillna('Uk')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360920" y="3127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Uk = Unknown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464040" y="1600200"/>
            <a:ext cx="212140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46920" y="1719072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 Zipcode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0808208" y="1737360"/>
            <a:ext cx="594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number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9646920" y="201168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</a:t>
            </a: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</a:t>
            </a:r>
            <a:r>
              <a:rPr lang="en-US" sz="280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9646920" y="260604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5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VALUES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9646920" y="2880360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fillna(0)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9646920" y="3127248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= placeholder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" y="3657600"/>
            <a:ext cx="10972800" cy="2103120"/>
          </a:xfrm>
          <a:prstGeom prst="roundRect">
            <a:avLst>
              <a:gd name="adj" fmla="val 6957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37673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· DF.ISNULL().SUM()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0" y="376732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square = one column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68680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8680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527048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527048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185416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185416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43784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43784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02152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02152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60520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160520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18888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18888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477256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77256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35624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35624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793992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93992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452360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52360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8110728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110728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769096" y="4160520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769096" y="4160520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868680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68680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1527048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1527048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185416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185416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843784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2843784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502152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3502152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160520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160520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818888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4818888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477256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5477256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35624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135624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793992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793992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452360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7452360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110728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8110728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8769096" y="4636008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8769096" y="4636008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68680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868680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1527048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1527048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2185416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2185416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2843784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2843784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3502152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3502152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160520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4160520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4818888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4818888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5477256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477256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135624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6135624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793992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793992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7452360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7452360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8110728" y="5111496"/>
            <a:ext cx="566928" cy="365760"/>
          </a:xfrm>
          <a:prstGeom prst="roundRect">
            <a:avLst>
              <a:gd name="adj" fmla="val 175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8110728" y="5111496"/>
            <a:ext cx="566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9692640" y="4069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4400" dirty="0"/>
          </a:p>
        </p:txBody>
      </p:sp>
      <p:sp>
        <p:nvSpPr>
          <p:cNvPr id="106" name="Text 104"/>
          <p:cNvSpPr txBox="1"/>
          <p:nvPr/>
        </p:nvSpPr>
        <p:spPr>
          <a:xfrm>
            <a:off x="9692640" y="48463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VALUES</a:t>
            </a:r>
            <a:endParaRPr lang="en-US" sz="800" dirty="0"/>
          </a:p>
        </p:txBody>
      </p:sp>
      <p:sp>
        <p:nvSpPr>
          <p:cNvPr id="107" name="Text 105"/>
          <p:cNvSpPr txBox="1"/>
          <p:nvPr/>
        </p:nvSpPr>
        <p:spPr>
          <a:xfrm>
            <a:off x="9692640" y="507492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all 38 columns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dataset is now complete and clean, so it is ready for analysis and visualization.</a:t>
            </a:r>
            <a:endParaRPr lang="en-US" sz="1200" dirty="0"/>
          </a:p>
        </p:txBody>
      </p:sp>
      <p:sp>
        <p:nvSpPr>
          <p:cNvPr id="11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 Detection: Setup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400800" cy="2926080"/>
          </a:xfrm>
          <a:prstGeom prst="roundRect">
            <a:avLst>
              <a:gd name="adj" fmla="val 3750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638251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099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6367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notebook.ipynb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57400"/>
            <a:ext cx="603504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= [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"Sales"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 Item Discount"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 Profit Per Order"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 Item Total"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'Product Price'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columns: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1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df.columns: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figsize=(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x=df[col])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</a:t>
            </a:r>
            <a:r>
              <a:rPr lang="en-US" sz="11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f"Boxplot of {col}"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 algn="l">
              <a:lnSpc>
                <a:spcPts val="1518"/>
              </a:lnSpc>
              <a:buNone/>
            </a:pPr>
            <a:r>
              <a:rPr lang="en-US" sz="11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</a:t>
            </a:r>
            <a:r>
              <a:rPr lang="en-US" sz="11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23760" y="1600200"/>
            <a:ext cx="4361688" cy="2926080"/>
          </a:xfrm>
          <a:prstGeom prst="roundRect">
            <a:avLst>
              <a:gd name="adj" fmla="val 5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18013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5236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836408" y="1783080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836408" y="2020824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statistics: count, mean, std, min, quartiles and max.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452360" y="276148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5236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7836408" y="2743200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columns = [...]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836408" y="2980944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 numerical columns selected for the outlier check.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52360" y="367588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5236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836408" y="3657600"/>
            <a:ext cx="3547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sns.boxplot()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836408" y="3895344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= Q1 to Q3, whiskers = normal range, dots = potential outliers.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" y="4709160"/>
            <a:ext cx="10972800" cy="868680"/>
          </a:xfrm>
          <a:prstGeom prst="roundRect">
            <a:avLst>
              <a:gd name="adj" fmla="val 16842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68680" y="4709160"/>
            <a:ext cx="1280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3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COLUMNS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03120" y="4992624"/>
            <a:ext cx="603504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03120" y="4992624"/>
            <a:ext cx="6035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98064" y="4992624"/>
            <a:ext cx="1525219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98064" y="4992624"/>
            <a:ext cx="152521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Item Discount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14723" y="4992624"/>
            <a:ext cx="1722730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14723" y="4992624"/>
            <a:ext cx="172273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Profit Per Order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228893" y="4992624"/>
            <a:ext cx="1327709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28893" y="4992624"/>
            <a:ext cx="1327709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Item Total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48042" y="4992624"/>
            <a:ext cx="1130198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48042" y="4992624"/>
            <a:ext cx="113019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Price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Descriptive statistics and boxplots give a first visual look at extreme values in each column.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Boxplots: Sales &amp; Discount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7665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07721" y="1655064"/>
            <a:ext cx="6571488" cy="1773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600200"/>
            <a:ext cx="399592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values sit below about 300. A handful of isolated dots appear far to the right, around 600, 1,000, 1,500 and 2,000.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" y="3611880"/>
            <a:ext cx="67665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0979" y="3685032"/>
            <a:ext cx="6647373" cy="17739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89520" y="3611880"/>
            <a:ext cx="399592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Item Discount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4160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is narrow (roughly 5 to 30). A dense line of dots starts just past the whisker and stretches out to about 500.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dot beyond the whisker is a potential outlier flagged by the IQR rule.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Boxplots: Profit &amp; Item Total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7665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" y="1673352"/>
            <a:ext cx="6766560" cy="1773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600200"/>
            <a:ext cx="399592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Profit Per Order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1488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box is squeezed near zero, with dense dots on both sides. Extreme negative values reach about −4,300; positives reach about 900.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" y="3611880"/>
            <a:ext cx="6766560" cy="19202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11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2648" y="3685032"/>
            <a:ext cx="6766559" cy="177393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589520" y="3611880"/>
            <a:ext cx="399592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818120" y="3794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Item Total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7818120" y="41605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roughly 100 to 250. Dots begin around 460 and spread out to nearly 2,000, with several gaps between clusters.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shows the heaviest tails, especially on the negative side (losses).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Boxplot: Product Price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766560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93683" y="1673352"/>
            <a:ext cx="6694669" cy="22311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600200"/>
            <a:ext cx="3995928" cy="2377440"/>
          </a:xfrm>
          <a:prstGeom prst="roundRect">
            <a:avLst>
              <a:gd name="adj" fmla="val 6154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1812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Price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214884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roughly 50 to 200, whisker ends near 400. Only a few separate dots appear, around 450, 530, 600, 1,000, 1,500 and 2,000.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Boxplots show where the outliers are; the IQR calculation that follows measures exactly how many.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2648" y="4114800"/>
            <a:ext cx="10972800" cy="640080"/>
          </a:xfrm>
          <a:prstGeom prst="roundRect">
            <a:avLst>
              <a:gd name="adj" fmla="val 22857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4114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A BOXPLOT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291840" y="4270248"/>
            <a:ext cx="2051914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291840" y="4270248"/>
            <a:ext cx="205191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Box = Q1 to Q3 (middle 50%)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35194" y="4270248"/>
            <a:ext cx="1591056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35194" y="4270248"/>
            <a:ext cx="15910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 inside = median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117690" y="4270248"/>
            <a:ext cx="1788566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17690" y="4270248"/>
            <a:ext cx="178856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Whiskers = normal range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997696" y="4270248"/>
            <a:ext cx="1920240" cy="283464"/>
          </a:xfrm>
          <a:prstGeom prst="roundRect">
            <a:avLst>
              <a:gd name="adj" fmla="val 48387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A0D7FF">
                <a:alpha val="60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997696" y="4270248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Dots = potential outliers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IQR Method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400800" cy="2743200"/>
          </a:xfrm>
          <a:prstGeom prst="roundRect">
            <a:avLst>
              <a:gd name="adj" fmla="val 4000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638251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099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63677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notebook.ipynb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57400"/>
            <a:ext cx="6035040" cy="2194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columns: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Q1 = df[col].</a:t>
            </a:r>
            <a:r>
              <a:rPr lang="en-US" sz="11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quantile(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Q3 = df[col].</a:t>
            </a:r>
            <a:r>
              <a:rPr lang="en-US" sz="11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quantile(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IQR = Q3 - Q1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 = Q1 - 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IQR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upper = Q3 + </a:t>
            </a:r>
            <a:r>
              <a:rPr lang="en-US" sz="11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IQR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 = ((df[col] &lt; lower) | (df[col] &gt; upper)).</a:t>
            </a:r>
            <a:r>
              <a:rPr lang="en-US" sz="11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marL="0" indent="0" algn="l">
              <a:lnSpc>
                <a:spcPts val="1587"/>
              </a:lnSpc>
              <a:buNone/>
            </a:pPr>
            <a:r>
              <a:rPr lang="en-US" sz="11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 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1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f"{col}: {count} outliers"</a:t>
            </a:r>
            <a:r>
              <a:rPr lang="en-US" sz="11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223760" y="1600200"/>
            <a:ext cx="4361688" cy="2743200"/>
          </a:xfrm>
          <a:prstGeom prst="roundRect">
            <a:avLst>
              <a:gd name="adj" fmla="val 5333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5236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IQR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Q3 − Q1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24688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Bound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468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A8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Q1 − 1.5 × IQR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5236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Upper Bound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 + 1.5 × IQR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3794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value outside these bounds is counted as a potential outlier.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" y="4526280"/>
            <a:ext cx="3529584" cy="1143000"/>
          </a:xfrm>
          <a:prstGeom prst="roundRect">
            <a:avLst>
              <a:gd name="adj" fmla="val 128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645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 Q3, IQR, bounds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Printed for every column to review the calculated limits.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34256" y="4526280"/>
            <a:ext cx="3529584" cy="1143000"/>
          </a:xfrm>
          <a:prstGeom prst="roundRect">
            <a:avLst>
              <a:gd name="adj" fmla="val 128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44568" y="4645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/ Max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544568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Compared against the bounds to see how far values extend.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55864" y="4526280"/>
            <a:ext cx="3529584" cy="1143000"/>
          </a:xfrm>
          <a:prstGeom prst="roundRect">
            <a:avLst>
              <a:gd name="adj" fmla="val 128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66176" y="4645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sort_values().head(5)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266176" y="4983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the 5 lowest and 5 highest outlier values per column.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IQR method is robust because it relies on quartiles, not on the mean.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6766560" cy="4114800"/>
          </a:xfrm>
          <a:prstGeom prst="roundRect">
            <a:avLst>
              <a:gd name="adj" fmla="val 3556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828800"/>
            <a:ext cx="4384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Profit Per Order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4000500" y="1828800"/>
            <a:ext cx="313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18,942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868680" y="2075688"/>
            <a:ext cx="626364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2075688"/>
            <a:ext cx="6263640" cy="109728"/>
          </a:xfrm>
          <a:prstGeom prst="roundRect">
            <a:avLst>
              <a:gd name="adj" fmla="val 50000"/>
            </a:avLst>
          </a:prstGeom>
          <a:solidFill>
            <a:srgbClr val="CFEAFF"/>
          </a:solidFill>
          <a:ln w="12700">
            <a:solidFill>
              <a:srgbClr val="CFEA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606040"/>
            <a:ext cx="4384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Item Discount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4000500" y="2606040"/>
            <a:ext cx="313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7,537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68680" y="2852928"/>
            <a:ext cx="626364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2852928"/>
            <a:ext cx="2505456" cy="109728"/>
          </a:xfrm>
          <a:prstGeom prst="roundRect">
            <a:avLst>
              <a:gd name="adj" fmla="val 50000"/>
            </a:avLst>
          </a:prstGeom>
          <a:solidFill>
            <a:srgbClr val="CFEAFF"/>
          </a:solidFill>
          <a:ln w="12700">
            <a:solidFill>
              <a:srgbClr val="CFEA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383280"/>
            <a:ext cx="4384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Price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000500" y="3383280"/>
            <a:ext cx="313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2,048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68680" y="3630168"/>
            <a:ext cx="626364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3630168"/>
            <a:ext cx="689000" cy="109728"/>
          </a:xfrm>
          <a:prstGeom prst="roundRect">
            <a:avLst>
              <a:gd name="adj" fmla="val 50000"/>
            </a:avLst>
          </a:prstGeom>
          <a:solidFill>
            <a:srgbClr val="CFEAFF"/>
          </a:solidFill>
          <a:ln w="12700">
            <a:solidFill>
              <a:srgbClr val="CFEA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160520"/>
            <a:ext cx="4384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Item Total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000500" y="4160520"/>
            <a:ext cx="313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1,943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68680" y="4407408"/>
            <a:ext cx="626364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407408"/>
            <a:ext cx="626364" cy="109728"/>
          </a:xfrm>
          <a:prstGeom prst="roundRect">
            <a:avLst>
              <a:gd name="adj" fmla="val 50000"/>
            </a:avLst>
          </a:prstGeom>
          <a:solidFill>
            <a:srgbClr val="CFEAFF"/>
          </a:solidFill>
          <a:ln w="12700">
            <a:solidFill>
              <a:srgbClr val="CFEA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937760"/>
            <a:ext cx="43845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000500" y="4937760"/>
            <a:ext cx="31318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488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68680" y="5184648"/>
            <a:ext cx="6263640" cy="109728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184648"/>
            <a:ext cx="187909" cy="109728"/>
          </a:xfrm>
          <a:prstGeom prst="roundRect">
            <a:avLst>
              <a:gd name="adj" fmla="val 50000"/>
            </a:avLst>
          </a:prstGeom>
          <a:solidFill>
            <a:srgbClr val="CFEAFF"/>
          </a:solidFill>
          <a:ln w="12700">
            <a:solidFill>
              <a:srgbClr val="CFEA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1600200"/>
            <a:ext cx="3995928" cy="1280160"/>
          </a:xfrm>
          <a:prstGeom prst="roundRect">
            <a:avLst>
              <a:gd name="adj" fmla="val 1142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0" y="181965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0" y="1819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156448" y="180136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Profit: highest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156448" y="203911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Unusually high positive values and extreme negative values.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3017520"/>
            <a:ext cx="3995928" cy="1280160"/>
          </a:xfrm>
          <a:prstGeom prst="roundRect">
            <a:avLst>
              <a:gd name="adj" fmla="val 1142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772400" y="323697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0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156448" y="321868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Discount: considerable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156448" y="345643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large number of potential outliers worth investigating.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589520" y="4434840"/>
            <a:ext cx="3995928" cy="1280160"/>
          </a:xfrm>
          <a:prstGeom prst="roundRect">
            <a:avLst>
              <a:gd name="adj" fmla="val 1142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0" y="465429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0" y="46542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156448" y="4636008"/>
            <a:ext cx="3182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Others: limited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8156448" y="4873752"/>
            <a:ext cx="3182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Sales, Item Total and Price show far fewer extreme values.</a:t>
            </a:r>
            <a:endParaRPr lang="en-US" sz="105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02 · PYTHON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Inspecting the Extremes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554480"/>
            <a:ext cx="7680960" cy="4206240"/>
          </a:xfrm>
          <a:prstGeom prst="roundRect">
            <a:avLst>
              <a:gd name="adj" fmla="val 2609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63624"/>
            <a:ext cx="766267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642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642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59105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notebook.ipynb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11680"/>
            <a:ext cx="7315200" cy="365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columns: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Q1 = df[col].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quantile(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Q3 = df[col].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quantile(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0.75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IQR = Q3 - Q1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lower = Q1 - 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IQR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upper = Q3 + 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IQR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f"\nColumn: {col}"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"Q1:"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Q1)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"Q3:"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Q3)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"IQR:"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IQR)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"Min:"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df[col].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"Max:"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df[col].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"Lower Bound:"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lower)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"Upper Bound:"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upper)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"Lowest values:"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df.loc[df[col] &lt; lower, col].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"Highest values:"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df.loc[df[col] &gt; upper, col].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ascending=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head(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tolist(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58200" y="1554480"/>
            <a:ext cx="3127248" cy="4206240"/>
          </a:xfrm>
          <a:prstGeom prst="roundRect">
            <a:avLst>
              <a:gd name="adj" fmla="val 4678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168249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979408" y="1664208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Q1, Q3, IQR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979408" y="1901952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2-4: the spread of the middle 50% of the data, printed per column.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95360" y="24871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979408" y="246888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Lower / Upper Bound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979408" y="2706624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5-6: Q1 − 1.5×IQR and Q3 + 1.5×IQR set the normal range.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595360" y="3291840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9536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979408" y="3273552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/ Max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979408" y="3511296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13-14: if Min is below the lower bound or Max is above the upper bound, outliers exist on that side.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95360" y="4096512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979408" y="4078224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 ... ]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979408" y="4315968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19, 21: filters only the rows outside the bounds.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595360" y="4901184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0" y="4901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79408" y="4882896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sort_values().head(5)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8979408" y="5120640"/>
            <a:ext cx="25420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Shows the 5 lowest and 5 highest outliers, so you see how extreme they really are.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Looking at the actual extreme values helps decide if they are errors or valid business cases.</a:t>
            </a:r>
            <a:endParaRPr lang="en-US" sz="12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03 · SQL SERVER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Fixing Data Types &amp; Dates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554480"/>
            <a:ext cx="7040880" cy="4206240"/>
          </a:xfrm>
          <a:prstGeom prst="roundRect">
            <a:avLst>
              <a:gd name="adj" fmla="val 2609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63624"/>
            <a:ext cx="702259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642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642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5910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DataCoSupplyChain.sql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11680"/>
            <a:ext cx="6675120" cy="365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sp_help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'dbo.DataCoSupplyChain'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check column types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Money columns: one decimal place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[Sales]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same for Order_Item_Discount, Order_Item_Total,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Order_Profit_Per_Order, Product_Price ...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ids become INT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[Customer_Id]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same for Order_Id, Order_Item_Id, Product_Card_Id ...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Split date and time into separate columns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[Date_Orders]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[Time_Orders]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[Date_Orders]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[order_date_DateOrders]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[Time_Orders]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[order_date_DateOrders]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3721608" cy="4206240"/>
          </a:xfrm>
          <a:prstGeom prst="roundRect">
            <a:avLst>
              <a:gd name="adj" fmla="val 3931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013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4672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430768" y="178308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Prices → DECIMAL(18,1)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02082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precision for every money column.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0" y="303580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0" y="3035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301752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→ INT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325526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type for all keys, ready for relationships.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046720" y="427024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46720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425196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 / Time split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430768" y="4489704"/>
            <a:ext cx="2999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and shipping timestamps become Date and Time columns; the originals are dropped.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types make the model faster and the DAX measures safer.</a:t>
            </a:r>
            <a:endParaRPr lang="en-US" sz="12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03 · SQL SERVER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Cleaning Text &amp; Encoding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554480"/>
            <a:ext cx="7040880" cy="4206240"/>
          </a:xfrm>
          <a:prstGeom prst="roundRect">
            <a:avLst>
              <a:gd name="adj" fmla="val 2609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63624"/>
            <a:ext cx="702259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642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642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591056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DataCoSupplyChain.sql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11680"/>
            <a:ext cx="6675120" cy="365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Repair broken characters in country names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'%MÃ©xico%'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'Mexico'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'%PerÃº%'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'Peru'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'%JapÃ³n%'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'Japon'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'%PanamÃ¡%'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'Panama'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[Order_Country]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'%Ã%'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same pattern for Order_State and Order_City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Make the country name work on the map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'United States'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[Customer_Country]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'EE. UU.'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[Customer_State]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'CA'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[Customer_State]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'%[0-9]%'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863840" y="1554480"/>
            <a:ext cx="3721608" cy="2011680"/>
          </a:xfrm>
          <a:prstGeom prst="roundRect">
            <a:avLst>
              <a:gd name="adj" fmla="val 7273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2440" y="1691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Why?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20574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CSV was read with the wrong encoding, so names like México showed as MÃ©xico. A CASE expression maps each one to its clean name.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3703320"/>
            <a:ext cx="3721608" cy="2057400"/>
          </a:xfrm>
          <a:prstGeom prst="roundRect">
            <a:avLst>
              <a:gd name="adj" fmla="val 7111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92440" y="3840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Map-ready values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092440" y="42062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"EE. UU." became United States, and zipcodes found in the state column were replaced with CA.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Correct city, state and country names are required for the map visuals in Power BI.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03 · SQL SERVER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Star Schema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554480"/>
            <a:ext cx="7223760" cy="4206240"/>
          </a:xfrm>
          <a:prstGeom prst="roundRect">
            <a:avLst>
              <a:gd name="adj" fmla="val 2609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563624"/>
            <a:ext cx="720547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6420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66420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66420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59105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DataCoSupplyChain.sql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11680"/>
            <a:ext cx="6858000" cy="365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[Customer_Id]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[Customer_Name]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Customer_Name,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[Customer_Segment]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Customer_Segment,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90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[Customer_City]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Customer_City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INTO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dbo.Dim_Customers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[Customer_Id]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dbo.Dim_Customers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PK_Dim_Customers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[Customer_Id]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Dim_Products built the same way on [Product_Card_Id]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FK_Order_Customer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[Customer_Id]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dbo.Dim_Customers(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[Customer_Id]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CONSTRAINT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FK_Order_Product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FOREIGN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[Product_Card_Id]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dbo.Dim_Products(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[Product_Card_Id]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  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  </a:t>
            </a:r>
            <a:r>
              <a:rPr lang="en-US" sz="900" dirty="0">
                <a:solidFill>
                  <a:srgbClr val="5F6F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Remove columns now stored in the dimensions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[customer_state]</a:t>
            </a:r>
            <a:endParaRPr lang="en-US" sz="900" dirty="0"/>
          </a:p>
          <a:p>
            <a:pPr marL="0" indent="0" algn="l">
              <a:lnSpc>
                <a:spcPts val="1242"/>
              </a:lnSpc>
              <a:buNone/>
            </a:pPr>
            <a:r>
              <a:rPr lang="en-US" sz="90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 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dbo.DataCoSupplyChain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COLUMN</a:t>
            </a:r>
            <a:r>
              <a:rPr lang="en-US" sz="90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90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[product_name]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1645920"/>
            <a:ext cx="3017520" cy="868680"/>
          </a:xfrm>
          <a:prstGeom prst="roundRect">
            <a:avLst>
              <a:gd name="adj" fmla="val 14737"/>
            </a:avLst>
          </a:prstGeom>
          <a:solidFill>
            <a:srgbClr val="0A2056"/>
          </a:solidFill>
          <a:ln w="19050">
            <a:solidFill>
              <a:srgbClr val="8FD0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17556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Dim_Customers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1031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Customer_Id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6060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 FK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2926080"/>
            <a:ext cx="3017520" cy="1005840"/>
          </a:xfrm>
          <a:prstGeom prst="roundRect">
            <a:avLst>
              <a:gd name="adj" fmla="val 12727"/>
            </a:avLst>
          </a:prstGeom>
          <a:solidFill>
            <a:srgbClr val="0A2A66"/>
          </a:solidFill>
          <a:ln w="19050">
            <a:solidFill>
              <a:srgbClr val="8FD0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3035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DataCoSupplyChain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3429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 table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0" y="4023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 FK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4389120"/>
            <a:ext cx="3017520" cy="868680"/>
          </a:xfrm>
          <a:prstGeom prst="roundRect">
            <a:avLst>
              <a:gd name="adj" fmla="val 14737"/>
            </a:avLst>
          </a:prstGeom>
          <a:solidFill>
            <a:srgbClr val="0A2056"/>
          </a:solidFill>
          <a:ln w="19050">
            <a:solidFill>
              <a:srgbClr val="8FD0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0" y="4498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Dim_Products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D0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  Product_Card_Id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fact table and two dimensions with primary and foreign keys, so every attribute is stored once.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04 · POWER BI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Power BI to SQL Server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508760"/>
            <a:ext cx="6400800" cy="4206240"/>
          </a:xfrm>
          <a:prstGeom prst="roundRect">
            <a:avLst>
              <a:gd name="adj" fmla="val 30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 descr="Power BI Get Data dialog connected to SQL Serv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805" y="1581912"/>
            <a:ext cx="6076486" cy="405993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23760" y="1508760"/>
            <a:ext cx="4361688" cy="4206240"/>
          </a:xfrm>
          <a:prstGeom prst="roundRect">
            <a:avLst>
              <a:gd name="adj" fmla="val 3478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06640" y="1682496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0664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1664208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Server database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90688" y="1901952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to the server and open the mini_project database.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406640" y="24871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24871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90688" y="246888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Data → SQL Server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90688" y="270662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→ Get data → SQL Server, then enter server and database.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3291840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40664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790688" y="327355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Choose data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790688" y="3511296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Tick Data Co Supply Chain (the main fact table); the Dim Customers and Dim Products tables are loaded the same way.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406640" y="4096512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06640" y="40965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7790688" y="407822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Query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7790688" y="4315968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City / Country / Region by Reference + Remove Duplicates; Date_Orders split into Day, Month, Year.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406640" y="4901184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406640" y="4901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90688" y="4882896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 &amp; model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7790688" y="5120640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Load, then relate Customer_Id and Product_Card_Id to the dimensions.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dashboard in this report is driven by the SQL data model, not by the raw CSV.</a:t>
            </a:r>
            <a:endParaRPr lang="en-US" sz="12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05 · POWER BI REPORT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DAX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7223760" cy="4069080"/>
          </a:xfrm>
          <a:prstGeom prst="roundRect">
            <a:avLst>
              <a:gd name="adj" fmla="val 2697"/>
            </a:avLst>
          </a:prstGeom>
          <a:solidFill>
            <a:srgbClr val="05070D"/>
          </a:solidFill>
          <a:ln w="12700">
            <a:solidFill>
              <a:srgbClr val="1B27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609344"/>
            <a:ext cx="7205472" cy="310896"/>
          </a:xfrm>
          <a:prstGeom prst="roundRect">
            <a:avLst>
              <a:gd name="adj" fmla="val 29412"/>
            </a:avLst>
          </a:prstGeom>
          <a:solidFill>
            <a:srgbClr val="0F1424"/>
          </a:solidFill>
          <a:ln w="12700">
            <a:solidFill>
              <a:srgbClr val="0F1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709928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" y="1709928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6424" y="1709928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163677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D9A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057400"/>
            <a:ext cx="6858000" cy="3520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Sales =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 Co Supply Chain'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[Sales]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Orders =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DISTINCTCOUNT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 Co Supply Chain'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[Order_Id]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Profit =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SUMX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 Co Supply Chain'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[Sales]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[Order_Item_Profit_Ratio]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 Margin % =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Profit]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Sales]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 Orders % =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Orders]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050" dirty="0">
                <a:solidFill>
                  <a:srgbClr val="F6C1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'Data Co Supply Chain'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[Late_delivery_risk]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Orders]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Shipping Delay Days =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[Avg Actual Shipping Days]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[Avg Scheduled Shipping Days]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MoM Growth % = </a:t>
            </a:r>
            <a:r>
              <a:rPr lang="en-US" sz="1050" dirty="0">
                <a:solidFill>
                  <a:srgbClr val="82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DIVIDE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[Total Sales]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[Sales Previous Month]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marL="0" indent="0" algn="l">
              <a:lnSpc>
                <a:spcPts val="1449"/>
              </a:lnSpc>
              <a:buNone/>
            </a:pPr>
            <a:r>
              <a:rPr lang="en-US" sz="1050" dirty="0">
                <a:solidFill>
                  <a:srgbClr val="4B5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 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50" dirty="0">
                <a:solidFill>
                  <a:srgbClr val="7FE0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[Sales Previous Month]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05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050" dirty="0">
                <a:solidFill>
                  <a:srgbClr val="E6ED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38728" cy="4069080"/>
          </a:xfrm>
          <a:prstGeom prst="roundRect">
            <a:avLst>
              <a:gd name="adj" fmla="val 4134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0" y="18013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13648" y="178308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&amp; profit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613648" y="202082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Sales, Total Profit, Profit Margin 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276148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0" y="2761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13648" y="274320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 &amp; customers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613648" y="298094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Orders, Customers, Sales per Order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372160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0" y="3721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613648" y="370332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613648" y="394106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Orders %, Shipping Delay Days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0" y="468172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4681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613648" y="4663440"/>
            <a:ext cx="2816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613648" y="4901184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Previous Month, MoM Growth 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Measures: sales, orders, customers, profit, discount, late orders, shipping days, margin and month-over-month growth.</a:t>
            </a:r>
            <a:endParaRPr lang="en-US" sz="12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05 · POWER BI REPORT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740664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673352"/>
            <a:ext cx="7242048" cy="3968496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Shape 4"/>
          <p:cNvSpPr/>
          <p:nvPr/>
        </p:nvSpPr>
        <p:spPr>
          <a:xfrm>
            <a:off x="8229600" y="1600200"/>
            <a:ext cx="3355848" cy="4114800"/>
          </a:xfrm>
          <a:prstGeom prst="roundRect">
            <a:avLst>
              <a:gd name="adj" fmla="val 436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45820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Navigation hub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1031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landing page of the Supply Chain &amp; Sales Analytics Dashboard.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458200" y="31089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Overview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Analysis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&amp; Product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&amp; Delivery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06 · DASHBOARDS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83210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2379" y="1490472"/>
            <a:ext cx="8247573" cy="4224528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Shape 4"/>
          <p:cNvSpPr/>
          <p:nvPr/>
        </p:nvSpPr>
        <p:spPr>
          <a:xfrm>
            <a:off x="8915400" y="1600200"/>
            <a:ext cx="267004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36.79M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250424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8.86M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250424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PROFIT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10250424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21K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250424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915400" y="3657600"/>
            <a:ext cx="2670048" cy="2148840"/>
          </a:xfrm>
          <a:prstGeom prst="roundRect">
            <a:avLst>
              <a:gd name="adj" fmla="val 680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982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4160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by region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trend over the years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by market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status split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Year, region and market slicers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06 · DASHBOARDS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83210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44752"/>
            <a:ext cx="8302751" cy="4361688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Shape 4"/>
          <p:cNvSpPr/>
          <p:nvPr/>
        </p:nvSpPr>
        <p:spPr>
          <a:xfrm>
            <a:off x="8915400" y="1600200"/>
            <a:ext cx="2670048" cy="1051560"/>
          </a:xfrm>
          <a:prstGeom prst="roundRect">
            <a:avLst>
              <a:gd name="adj" fmla="val 13913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21.34%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MARGIN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250424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559.48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250424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SALES / ORDER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8915400" y="2788920"/>
            <a:ext cx="2670048" cy="3017520"/>
          </a:xfrm>
          <a:prstGeom prst="roundRect">
            <a:avLst>
              <a:gd name="adj" fmla="val 547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09828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3291840"/>
            <a:ext cx="233172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by region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by market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sales trend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by order status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 status slicer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06 · DASHBOARDS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&amp; Product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83210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44752"/>
            <a:ext cx="8302752" cy="434340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Shape 4"/>
          <p:cNvSpPr/>
          <p:nvPr/>
        </p:nvSpPr>
        <p:spPr>
          <a:xfrm>
            <a:off x="8915400" y="1600200"/>
            <a:ext cx="267004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118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250424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21K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250424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CUSTOMERS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66K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10250424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1.78K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250424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/ CUSTOMER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915400" y="3657600"/>
            <a:ext cx="2670048" cy="2148840"/>
          </a:xfrm>
          <a:prstGeom prst="roundRect">
            <a:avLst>
              <a:gd name="adj" fmla="val 680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982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4160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products by sales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by product category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10 customers by sales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and sales by segment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 text box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06 · DASHBOARDS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&amp;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44752"/>
            <a:ext cx="8321040" cy="4343400"/>
          </a:xfrm>
          <a:prstGeom prst="roundRect">
            <a:avLst>
              <a:gd name="adj" fmla="val 294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44752"/>
            <a:ext cx="8302752" cy="434340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Shape 4"/>
          <p:cNvSpPr/>
          <p:nvPr/>
        </p:nvSpPr>
        <p:spPr>
          <a:xfrm>
            <a:off x="8915400" y="1600200"/>
            <a:ext cx="2670048" cy="1920240"/>
          </a:xfrm>
          <a:prstGeom prst="roundRect">
            <a:avLst>
              <a:gd name="adj" fmla="val 761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15400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36K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915400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ORDERS</a:t>
            </a:r>
            <a:endParaRPr lang="en-US" sz="700" dirty="0"/>
          </a:p>
        </p:txBody>
      </p:sp>
      <p:sp>
        <p:nvSpPr>
          <p:cNvPr id="10" name="Text 7"/>
          <p:cNvSpPr txBox="1"/>
          <p:nvPr/>
        </p:nvSpPr>
        <p:spPr>
          <a:xfrm>
            <a:off x="10250424" y="173736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54.82%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0250424" y="216712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ORDERS %</a:t>
            </a:r>
            <a:endParaRPr lang="en-US" sz="7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3.50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DAYS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10250424" y="2606040"/>
            <a:ext cx="1335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2.93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0250424" y="3035808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kern="0" spc="1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DAYS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915400" y="3657600"/>
            <a:ext cx="2670048" cy="2148840"/>
          </a:xfrm>
          <a:prstGeom prst="roundRect">
            <a:avLst>
              <a:gd name="adj" fmla="val 6809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09828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it shows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4160520"/>
            <a:ext cx="2331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by delivery status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orders by market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vs scheduled days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risk by shipping mode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06 · DASHBOARDS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Tooltip Page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463040"/>
            <a:ext cx="6309360" cy="429768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52400" dist="38100" dir="5400000" algn="bl" rotWithShape="0">
              <a:srgbClr val="04195A">
                <a:alpha val="30000"/>
              </a:srgbClr>
            </a:outerShdw>
          </a:effectLst>
        </p:spPr>
      </p:sp>
      <p:pic>
        <p:nvPicPr>
          <p:cNvPr id="6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2648" y="1463040"/>
            <a:ext cx="6309359" cy="4297680"/>
          </a:xfrm>
          <a:prstGeom prst="rect">
            <a:avLst/>
          </a:prstGeom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</p:pic>
      <p:sp>
        <p:nvSpPr>
          <p:cNvPr id="7" name="Shape 4"/>
          <p:cNvSpPr/>
          <p:nvPr/>
        </p:nvSpPr>
        <p:spPr>
          <a:xfrm>
            <a:off x="7132320" y="1463040"/>
            <a:ext cx="4453128" cy="4297680"/>
          </a:xfrm>
          <a:prstGeom prst="roundRect">
            <a:avLst>
              <a:gd name="adj" fmla="val 3404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18013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6092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44968" y="178308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 details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44968" y="202082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Appears when the user hovers over a visual in the report.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360920" y="308152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6092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744968" y="306324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KPI cards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744968" y="330098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Sales 36.79M, Total Orders 66K, Total Profit 8.86M and Profit Margin 21.34%.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360920" y="436168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0920" y="4361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7744968" y="434340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 chart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744968" y="4581144"/>
            <a:ext cx="36393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Compares Total Sales with Total Profit.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Tooltip page gives a quick sales and profit summary without leaving the dashboard.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65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1E5F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07 · 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03504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2648" y="1243584"/>
            <a:ext cx="685800" cy="45720"/>
          </a:xfrm>
          <a:prstGeom prst="roundRect">
            <a:avLst>
              <a:gd name="adj" fmla="val 50000"/>
            </a:avLst>
          </a:prstGeom>
          <a:solidFill>
            <a:srgbClr val="2F7BE0"/>
          </a:solidFill>
          <a:ln w="12700">
            <a:solidFill>
              <a:srgbClr val="2F7B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2648" y="1600200"/>
            <a:ext cx="2651760" cy="914400"/>
          </a:xfrm>
          <a:prstGeom prst="roundRect">
            <a:avLst>
              <a:gd name="adj" fmla="val 16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12648" y="1709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36.79M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167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51760" cy="914400"/>
          </a:xfrm>
          <a:prstGeom prst="roundRect">
            <a:avLst>
              <a:gd name="adj" fmla="val 16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709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8.86M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167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53912" y="1600200"/>
            <a:ext cx="2651760" cy="914400"/>
          </a:xfrm>
          <a:prstGeom prst="roundRect">
            <a:avLst>
              <a:gd name="adj" fmla="val 16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53912" y="1709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21.34%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153912" y="2167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PROFIT MARGIN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24544" y="1600200"/>
            <a:ext cx="2651760" cy="914400"/>
          </a:xfrm>
          <a:prstGeom prst="roundRect">
            <a:avLst>
              <a:gd name="adj" fmla="val 16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924544" y="17099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54.82%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924544" y="21671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A9CD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 ORDERS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12648" y="274320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29443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2926080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Clean, reliable data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3163824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 → 38 columns, zero nulls, fixed types, text and dates.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0488" y="274320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46520" y="294436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46520" y="2944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30568" y="2926080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Strong model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830568" y="3163824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 star schema feeding Power BI with reusable DAX measures.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2648" y="420624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40740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252728" y="4389120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Profitable sales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1252728" y="4626864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21% margin across 66K orders and 21K customers.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90488" y="4206240"/>
            <a:ext cx="5394960" cy="1325880"/>
          </a:xfrm>
          <a:prstGeom prst="roundRect">
            <a:avLst>
              <a:gd name="adj" fmla="val 11034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46520" y="4407408"/>
            <a:ext cx="274320" cy="274320"/>
          </a:xfrm>
          <a:prstGeom prst="ellipse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46520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35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30568" y="4389120"/>
            <a:ext cx="4553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8FD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Delivery is the weak spot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830568" y="4626864"/>
            <a:ext cx="4553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D3E6F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 shipping takes 3.50 days against 2.93 scheduled, and more than half of orders are late.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12648" y="5852160"/>
            <a:ext cx="10972800" cy="457200"/>
          </a:xfrm>
          <a:prstGeom prst="roundRect">
            <a:avLst>
              <a:gd name="adj" fmla="val 32000"/>
            </a:avLst>
          </a:prstGeom>
          <a:solidFill>
            <a:srgbClr val="0A2056">
              <a:alpha val="90000"/>
            </a:srgbClr>
          </a:solidFill>
          <a:ln w="9525">
            <a:solidFill>
              <a:srgbClr val="A0D7FF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6016752"/>
            <a:ext cx="128016" cy="128016"/>
          </a:xfrm>
          <a:prstGeom prst="diamond">
            <a:avLst/>
          </a:prstGeom>
          <a:solidFill>
            <a:srgbClr val="8FD0FF"/>
          </a:solidFill>
          <a:ln w="12700">
            <a:solidFill>
              <a:srgbClr val="8FD0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97280" y="585216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Priority: improve delivery performance to protect customer satisfaction and profit.</a:t>
            </a:r>
            <a:endParaRPr lang="en-US" sz="12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194560"/>
            <a:ext cx="12191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0A2A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3A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108960" y="4297680"/>
            <a:ext cx="5943600" cy="457200"/>
          </a:xfrm>
          <a:prstGeom prst="roundRect">
            <a:avLst>
              <a:gd name="adj" fmla="val 50000"/>
            </a:avLst>
          </a:prstGeom>
          <a:solidFill>
            <a:srgbClr val="0A2056"/>
          </a:solidFill>
          <a:ln w="12700">
            <a:solidFill>
              <a:srgbClr val="0A205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108960" y="42976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 ITC_ONL5_DAT3_G3  ·  Digital Egypt Pioneers Initiative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3536</Words>
  <Application>Microsoft Office PowerPoint</Application>
  <PresentationFormat>Widescreen</PresentationFormat>
  <Paragraphs>708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Chain Data Analytics</dc:title>
  <dc:subject>PptxGenJS Presentation</dc:subject>
  <dc:creator>ITC_ONL5_DAT3_G3</dc:creator>
  <cp:lastModifiedBy>رحاب خالد السيد محمد حسن</cp:lastModifiedBy>
  <cp:revision>2</cp:revision>
  <dcterms:created xsi:type="dcterms:W3CDTF">2026-10-23T18:45:22Z</dcterms:created>
  <dcterms:modified xsi:type="dcterms:W3CDTF">2026-10-24T17:37:43Z</dcterms:modified>
</cp:coreProperties>
</file>